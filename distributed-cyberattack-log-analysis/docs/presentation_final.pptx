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ideLayoutIdLst>
    <p:slideLayoutId id="1" r:id="rId1"/>
  </p:slideLayoutIdLst>
  <p:notesSz cx="6858000" cy="9144000"/>
  <p:defaultTextStyle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Distributed Cyberattack Log Analysis System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/>
          <a:lstStyle/>
          <a:p>
            <a:r>
              <a:rPr lang="en-US" sz="2200" b="0"/>
              <a:t>Final-Year Project | Hadoop + HDFS + MapReduce (Python Streaming)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Abstract / Overview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Distributed log analytics pipeline for cyberattack detection</a:t>
            </a:r>
          </a:p>
          <a:p>
            <a:pPr>
              <a:buChar char="•"/>
            </a:pPr>
            <a:r>
              <a:rPr lang="en-US" sz="2200"/>
              <a:t>HDFS storage + MapReduce processing via Hadoop Streaming (Python)</a:t>
            </a:r>
          </a:p>
          <a:p>
            <a:pPr>
              <a:buChar char="•"/>
            </a:pPr>
            <a:r>
              <a:rPr lang="en-US" sz="2200"/>
              <a:t>Detects brute-force, SQLi, XSS, DDoS</a:t>
            </a:r>
          </a:p>
          <a:p>
            <a:pPr>
              <a:buChar char="•"/>
            </a:pPr>
            <a:r>
              <a:rPr lang="en-US" sz="2200"/>
              <a:t>Outputs: reports + optional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Motivation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Centralized analysis does not scale for large log volumes</a:t>
            </a:r>
          </a:p>
          <a:p>
            <a:pPr>
              <a:buChar char="•"/>
            </a:pPr>
            <a:r>
              <a:rPr lang="en-US" sz="2200"/>
              <a:t>Security needs fast, reliable detection of common attacks</a:t>
            </a:r>
          </a:p>
          <a:p>
            <a:pPr>
              <a:buChar char="•"/>
            </a:pPr>
            <a:r>
              <a:rPr lang="en-US" sz="2200"/>
              <a:t>Hadoop provides scalability, fault tolerance, and data locality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Problem Statement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Design a distributed client-server system for log analysis</a:t>
            </a:r>
          </a:p>
          <a:p>
            <a:pPr>
              <a:buChar char="•"/>
            </a:pPr>
            <a:r>
              <a:rPr lang="en-US" sz="2200"/>
              <a:t>Store logs in HDFS and process with MapReduce</a:t>
            </a:r>
          </a:p>
          <a:p>
            <a:pPr>
              <a:buChar char="•"/>
            </a:pPr>
            <a:r>
              <a:rPr lang="en-US" sz="2200"/>
              <a:t>Rule-based detection only (no ML/AI)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Objectives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Generate realistic auth, web, and system logs</a:t>
            </a:r>
          </a:p>
          <a:p>
            <a:pPr>
              <a:buChar char="•"/>
            </a:pPr>
            <a:r>
              <a:rPr lang="en-US" sz="2200"/>
              <a:t>Transfer logs to server and store in HDFS</a:t>
            </a:r>
          </a:p>
          <a:p>
            <a:pPr>
              <a:buChar char="•"/>
            </a:pPr>
            <a:r>
              <a:rPr lang="en-US" sz="2200"/>
              <a:t>Run MapReduce via Hadoop Streaming (Python)</a:t>
            </a:r>
          </a:p>
          <a:p>
            <a:pPr>
              <a:buChar char="•"/>
            </a:pPr>
            <a:r>
              <a:rPr lang="en-US" sz="2200"/>
              <a:t>Produce attack reports and summary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Logical Architecture</a:t>
            </a:r>
          </a:p>
        </p:txBody>
      </p:sp>
      <p:sp>
        <p:nvSpPr>
          <p:cNvPr id="10" name="Box0"/>
          <p:cNvSpPr/>
          <p:nvPr/>
        </p:nvSpPr>
        <p:spPr>
          <a:xfrm>
            <a:off x="457200" y="1700000"/>
            <a:ext cx="1500000" cy="700000"/>
          </a:xfrm>
          <a:prstGeom prst="rect">
            <a:avLst/>
          </a:prstGeom>
          <a:solidFill>
            <a:srgbClr val="E8F3FF"/>
          </a:solidFill>
          <a:ln>
            <a:solidFill>
              <a:srgbClr val="4F81BD"/>
            </a:solidFill>
          </a:ln>
        </p:spPr>
        <p:txBody>
          <a:bodyPr/>
          <a:lstStyle/>
          <a:p>
            <a:r>
              <a:rPr lang="en-US" sz="1800" b="1"/>
              <a:t>Client</a:t>
            </a:r>
          </a:p>
        </p:txBody>
      </p:sp>
      <p:sp>
        <p:nvSpPr>
          <p:cNvPr id="60" name="Arrow0"/>
          <p:cNvSpPr/>
          <p:nvPr/>
        </p:nvSpPr>
        <p:spPr>
          <a:xfrm>
            <a:off x="1997200" y="1920000"/>
            <a:ext cx="160000" cy="260000"/>
          </a:xfrm>
          <a:prstGeom prst="rect">
            <a:avLst/>
          </a:prstGeom>
        </p:spPr>
        <p:txBody>
          <a:bodyPr/>
          <a:lstStyle/>
          <a:p>
            <a:r>
              <a:rPr lang="en-US" sz="2000" b="1"/>
              <a:t>-&gt;</a:t>
            </a:r>
          </a:p>
        </p:txBody>
      </p:sp>
      <p:sp>
        <p:nvSpPr>
          <p:cNvPr id="11" name="Box1"/>
          <p:cNvSpPr/>
          <p:nvPr/>
        </p:nvSpPr>
        <p:spPr>
          <a:xfrm>
            <a:off x="2207200" y="1700000"/>
            <a:ext cx="1500000" cy="700000"/>
          </a:xfrm>
          <a:prstGeom prst="rect">
            <a:avLst/>
          </a:prstGeom>
          <a:solidFill>
            <a:srgbClr val="E8F3FF"/>
          </a:solidFill>
          <a:ln>
            <a:solidFill>
              <a:srgbClr val="4F81BD"/>
            </a:solidFill>
          </a:ln>
        </p:spPr>
        <p:txBody>
          <a:bodyPr/>
          <a:lstStyle/>
          <a:p>
            <a:r>
              <a:rPr lang="en-US" sz="1800" b="1"/>
              <a:t>Transfer</a:t>
            </a:r>
          </a:p>
        </p:txBody>
      </p:sp>
      <p:sp>
        <p:nvSpPr>
          <p:cNvPr id="61" name="Arrow1"/>
          <p:cNvSpPr/>
          <p:nvPr/>
        </p:nvSpPr>
        <p:spPr>
          <a:xfrm>
            <a:off x="3747200" y="1920000"/>
            <a:ext cx="160000" cy="260000"/>
          </a:xfrm>
          <a:prstGeom prst="rect">
            <a:avLst/>
          </a:prstGeom>
        </p:spPr>
        <p:txBody>
          <a:bodyPr/>
          <a:lstStyle/>
          <a:p>
            <a:r>
              <a:rPr lang="en-US" sz="2000" b="1"/>
              <a:t>-&gt;</a:t>
            </a:r>
          </a:p>
        </p:txBody>
      </p:sp>
      <p:sp>
        <p:nvSpPr>
          <p:cNvPr id="12" name="Box2"/>
          <p:cNvSpPr/>
          <p:nvPr/>
        </p:nvSpPr>
        <p:spPr>
          <a:xfrm>
            <a:off x="3957200" y="1700000"/>
            <a:ext cx="1500000" cy="700000"/>
          </a:xfrm>
          <a:prstGeom prst="rect">
            <a:avLst/>
          </a:prstGeom>
          <a:solidFill>
            <a:srgbClr val="E8F3FF"/>
          </a:solidFill>
          <a:ln>
            <a:solidFill>
              <a:srgbClr val="4F81BD"/>
            </a:solidFill>
          </a:ln>
        </p:spPr>
        <p:txBody>
          <a:bodyPr/>
          <a:lstStyle/>
          <a:p>
            <a:r>
              <a:rPr lang="en-US" sz="1800" b="1"/>
              <a:t>HDFS</a:t>
            </a:r>
          </a:p>
        </p:txBody>
      </p:sp>
      <p:sp>
        <p:nvSpPr>
          <p:cNvPr id="62" name="Arrow2"/>
          <p:cNvSpPr/>
          <p:nvPr/>
        </p:nvSpPr>
        <p:spPr>
          <a:xfrm>
            <a:off x="5497200" y="1920000"/>
            <a:ext cx="160000" cy="260000"/>
          </a:xfrm>
          <a:prstGeom prst="rect">
            <a:avLst/>
          </a:prstGeom>
        </p:spPr>
        <p:txBody>
          <a:bodyPr/>
          <a:lstStyle/>
          <a:p>
            <a:r>
              <a:rPr lang="en-US" sz="2000" b="1"/>
              <a:t>-&gt;</a:t>
            </a:r>
          </a:p>
        </p:txBody>
      </p:sp>
      <p:sp>
        <p:nvSpPr>
          <p:cNvPr id="13" name="Box3"/>
          <p:cNvSpPr/>
          <p:nvPr/>
        </p:nvSpPr>
        <p:spPr>
          <a:xfrm>
            <a:off x="5707200" y="1700000"/>
            <a:ext cx="1500000" cy="700000"/>
          </a:xfrm>
          <a:prstGeom prst="rect">
            <a:avLst/>
          </a:prstGeom>
          <a:solidFill>
            <a:srgbClr val="E8F3FF"/>
          </a:solidFill>
          <a:ln>
            <a:solidFill>
              <a:srgbClr val="4F81BD"/>
            </a:solidFill>
          </a:ln>
        </p:spPr>
        <p:txBody>
          <a:bodyPr/>
          <a:lstStyle/>
          <a:p>
            <a:r>
              <a:rPr lang="en-US" sz="1800" b="1"/>
              <a:t>MapReduce</a:t>
            </a:r>
          </a:p>
        </p:txBody>
      </p:sp>
      <p:sp>
        <p:nvSpPr>
          <p:cNvPr id="63" name="Arrow3"/>
          <p:cNvSpPr/>
          <p:nvPr/>
        </p:nvSpPr>
        <p:spPr>
          <a:xfrm>
            <a:off x="7247200" y="1920000"/>
            <a:ext cx="160000" cy="260000"/>
          </a:xfrm>
          <a:prstGeom prst="rect">
            <a:avLst/>
          </a:prstGeom>
        </p:spPr>
        <p:txBody>
          <a:bodyPr/>
          <a:lstStyle/>
          <a:p>
            <a:r>
              <a:rPr lang="en-US" sz="2000" b="1"/>
              <a:t>-&gt;</a:t>
            </a:r>
          </a:p>
        </p:txBody>
      </p:sp>
      <p:sp>
        <p:nvSpPr>
          <p:cNvPr id="14" name="Box4"/>
          <p:cNvSpPr/>
          <p:nvPr/>
        </p:nvSpPr>
        <p:spPr>
          <a:xfrm>
            <a:off x="7457200" y="1700000"/>
            <a:ext cx="1500000" cy="700000"/>
          </a:xfrm>
          <a:prstGeom prst="rect">
            <a:avLst/>
          </a:prstGeom>
          <a:solidFill>
            <a:srgbClr val="E8F3FF"/>
          </a:solidFill>
          <a:ln>
            <a:solidFill>
              <a:srgbClr val="4F81BD"/>
            </a:solidFill>
          </a:ln>
        </p:spPr>
        <p:txBody>
          <a:bodyPr/>
          <a:lstStyle/>
          <a:p>
            <a:r>
              <a:rPr lang="en-US" sz="1800" b="1"/>
              <a:t>Reports/Dashboard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Physical Architecture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Minimum setup: 1 Client VM + 1 Server VM</a:t>
            </a:r>
          </a:p>
          <a:p>
            <a:pPr>
              <a:buChar char="•"/>
            </a:pPr>
            <a:r>
              <a:rPr lang="en-US" sz="2200"/>
              <a:t>Server hosts NameNode + DataNode (pseudo-distributed)</a:t>
            </a:r>
          </a:p>
          <a:p>
            <a:pPr>
              <a:buChar char="•"/>
            </a:pPr>
            <a:r>
              <a:rPr lang="en-US" sz="2200"/>
              <a:t>Scales to multiple clients and multiple DataNodes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Data Flow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1) Generate logs on client</a:t>
            </a:r>
          </a:p>
          <a:p>
            <a:pPr>
              <a:buChar char="•"/>
            </a:pPr>
            <a:r>
              <a:rPr lang="en-US" sz="2200"/>
              <a:t>2) Transfer logs to server</a:t>
            </a:r>
          </a:p>
          <a:p>
            <a:pPr>
              <a:buChar char="•"/>
            </a:pPr>
            <a:r>
              <a:rPr lang="en-US" sz="2200"/>
              <a:t>3) Store logs in HDFS</a:t>
            </a:r>
          </a:p>
          <a:p>
            <a:pPr>
              <a:buChar char="•"/>
            </a:pPr>
            <a:r>
              <a:rPr lang="en-US" sz="2200"/>
              <a:t>4) MapReduce detection</a:t>
            </a:r>
          </a:p>
          <a:p>
            <a:pPr>
              <a:buChar char="•"/>
            </a:pPr>
            <a:r>
              <a:rPr lang="en-US" sz="2200"/>
              <a:t>5) Export reports and visualize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Hadoop Concepts Applied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Distribution: logs stored across HDFS blocks</a:t>
            </a:r>
          </a:p>
          <a:p>
            <a:pPr>
              <a:buChar char="•"/>
            </a:pPr>
            <a:r>
              <a:rPr lang="en-US" sz="2200"/>
              <a:t>Parallelism: MapReduce processes blocks in parallel</a:t>
            </a:r>
          </a:p>
          <a:p>
            <a:pPr>
              <a:buChar char="•"/>
            </a:pPr>
            <a:r>
              <a:rPr lang="en-US" sz="2200"/>
              <a:t>Fault tolerance: replication</a:t>
            </a:r>
          </a:p>
          <a:p>
            <a:pPr>
              <a:buChar char="•"/>
            </a:pPr>
            <a:r>
              <a:rPr lang="en-US" sz="2200"/>
              <a:t>Data locality: tasks run near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Log Types + Examples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Web access logs (HTTP requests)</a:t>
            </a:r>
          </a:p>
          <a:p>
            <a:pPr>
              <a:buChar char="•"/>
            </a:pPr>
            <a:r>
              <a:rPr lang="en-US" sz="2200"/>
              <a:t>Authentication logs (SSH failures)</a:t>
            </a:r>
          </a:p>
          <a:p>
            <a:pPr>
              <a:buChar char="•"/>
            </a:pPr>
            <a:r>
              <a:rPr lang="en-US" sz="2200"/>
              <a:t>System logs (service/kernel events)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
 xmlns:r="http://schemas.openxmlformats.org/officeDocument/2006/relationships"
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
<p:sp>
  <p:nvSpPr>
    <p:cNvPr id="2" name="Title"/>
    <p:cNvSpPr/>
    <p:nvPr/>
  </p:nvSpPr>
  <p:spPr>
    <a:xfrm><a:off x="457200" y="228600"/><a:ext cx="8229600" cy="685800"/></a:xfrm>
    <a:prstGeom prst="rect"><a:avLst/></a:prstGeom>
    
    
  </p:spPr>
  <p:txBody>
    <a:bodyPr/>
    <a:lstStyle/>
    <a:p><a:r><a:rPr lang="en-US" sz="3600" b="1"/><a:t>Detection Rules</a:t></a:r></a:p>
  </p:txBody>
</p:sp>
<p:sp>
  <p:nvSpPr>
    <p:cNvPr id="3" name="Body"/>
    <p:cNvSpPr/>
    <p:nvPr/>
  </p:nvSpPr>
  <p:spPr>
    <a:xfrm><a:off x="457200" y="1143000"/><a:ext cx="8230000" cy="5029200"/></a:xfrm>
    <a:prstGeom prst="rect"><a:avLst/></a:prstGeom>
  </p:spPr>
  <p:txBody>
  <a:bodyPr/>
  <a:lstStyle/>
  <a:p><a:pPr><a:buChar char="•"/></a:pPr><a:r><a:rPr lang="en-US" sz="2200"/><a:t>Brute-force: >= 5 failed logins per IP per minute</a:t></a:r></a:p><a:p><a:pPr><a:buChar char="•"/></a:pPr><a:r><a:rPr lang="en-US" sz="2200"/><a:t>DDoS: >= 100 requests per IP per minute</a:t></a:r></a:p><a:p><a:pPr><a:buChar char="•"/></a:pPr><a:r><a:rPr lang="en-US" sz="2200"/><a:t>SQLi: patterns like UNION SELECT, OR 1=1, --</a:t></a:r></a:p><a:p><a:pPr><a:buChar char="•"/></a:pPr><a:r><a:rPr lang="en-US" sz="2200"/><a:t>XSS: patterns like <script>, onerror=, alert(</a:t></a:r></a:p>
</p:txBody>
</p:sp>
    </p:spTree>
  </p:cSld>
  <p:clrMapOvr><a:masterClrMapping/>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MapReduce Workflow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Mapper: parse logs and emit (key, timestamp)</a:t>
            </a:r>
          </a:p>
          <a:p>
            <a:pPr>
              <a:buChar char="•"/>
            </a:pPr>
            <a:r>
              <a:rPr lang="en-US" sz="2200"/>
              <a:t>Reducer: aggregate counts, track first/last, apply thresholds</a:t>
            </a:r>
          </a:p>
          <a:p>
            <a:pPr>
              <a:buChar char="•"/>
            </a:pPr>
            <a:r>
              <a:rPr lang="en-US" sz="2200"/>
              <a:t>Hadoop Streaming enables Python mappers/reducers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Outputs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Attack Detection Report (HDFS + CSV/TSV)</a:t>
            </a:r>
          </a:p>
          <a:p>
            <a:pPr>
              <a:buChar char="•"/>
            </a:pPr>
            <a:r>
              <a:rPr lang="en-US" sz="2200"/>
              <a:t>Summary Statistics Report</a:t>
            </a:r>
          </a:p>
          <a:p>
            <a:pPr>
              <a:buChar char="•"/>
            </a:pPr>
            <a:r>
              <a:rPr lang="en-US" sz="2200"/>
              <a:t>Optional Flask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Dashboard Screenshot</a:t>
            </a:r>
          </a:p>
        </p:txBody>
      </p:sp>
      <p:sp>
        <p:nvSpPr>
          <p:cNvPr id="4" name="ScreenshotBox"/>
          <p:cNvSpPr/>
          <p:nvPr/>
        </p:nvSpPr>
        <p:spPr>
          <a:xfrm>
            <a:off x="600000" y="1500000"/>
            <a:ext cx="8000000" cy="4500000"/>
          </a:xfrm>
          <a:prstGeom prst="rect">
            <a:avLst/>
          </a:prstGeom>
          <a:solidFill>
            <a:srgbClr val="F5F5F5"/>
          </a:solidFill>
          <a:ln>
            <a:solidFill>
              <a:srgbClr val="999999"/>
            </a:solidFill>
          </a:ln>
        </p:spPr>
        <p:txBody>
          <a:bodyPr/>
          <a:lstStyle/>
          <a:p>
            <a:r>
              <a:rPr lang="en-US" sz="2000" b="0"/>
              <a:t>Insert dashboard screenshot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Limitations and Future Work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Rule-based detection misses unknown attacks</a:t>
            </a:r>
          </a:p>
          <a:p>
            <a:pPr>
              <a:buChar char="•"/>
            </a:pPr>
            <a:r>
              <a:rPr lang="en-US" sz="2200"/>
              <a:t>Future: add IDS/DNS logs, streaming layer</a:t>
            </a:r>
          </a:p>
          <a:p>
            <a:pPr>
              <a:buChar char="•"/>
            </a:pPr>
            <a:r>
              <a:rPr lang="en-US" sz="2200"/>
              <a:t>Optional anomaly detection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Conclusion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43000"/>
            <a:ext cx="8230000" cy="5029200"/>
          </a:xfrm>
          <a:prstGeom prst="rect">
            <a:avLst/>
          </a:prstGeom>
        </p:spPr>
        <p:txBody>
          <a:bodyPr/>
          <a:lstStyle/>
          <a:p>
            <a:pPr>
              <a:buChar char="•"/>
            </a:pPr>
            <a:r>
              <a:rPr lang="en-US" sz="2200"/>
              <a:t>Demonstrates distributed systems principles</a:t>
            </a:r>
          </a:p>
          <a:p>
            <a:pPr>
              <a:buChar char="•"/>
            </a:pPr>
            <a:r>
              <a:rPr lang="en-US" sz="2200"/>
              <a:t>Clear, explainable cyberattack detection</a:t>
            </a:r>
          </a:p>
          <a:p>
            <a:pPr>
              <a:buChar char="•"/>
            </a:pPr>
            <a:r>
              <a:rPr lang="en-US" sz="2200"/>
              <a:t>Scalable and demo-ready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
 xmlns:r="http://schemas.openxmlformats.org/officeDocument/2006/relationships"
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
<p:sp>
  <p:nvSpPr>
    <p:cNvPr id="2" name="Title"/>
    <p:cNvSpPr/>
    <p:nvPr/>
  </p:nvSpPr>
  <p:spPr>
    <a:xfrm><a:off x="457200" y="228600"/><a:ext cx="8229600" cy="685800"/></a:xfrm>
    <a:prstGeom prst="rect"><a:avLst/></a:prstGeom>
    
    
  </p:spPr>
  <p:txBody>
    <a:bodyPr/>
    <a:lstStyle/>
    <a:p><a:r><a:rPr lang="en-US" sz="3600" b="1"/><a:t>Q&A</a:t></a:r></a:p>
  </p:txBody>
</p:sp>
<p:sp>
  <p:nvSpPr>
    <p:cNvPr id="3" name="Body"/>
    <p:cNvSpPr/>
    <p:nvPr/>
  </p:nvSpPr>
  <p:spPr>
    <a:xfrm><a:off x="457200" y="1143000"/><a:ext cx="8230000" cy="5029200"/></a:xfrm>
    <a:prstGeom prst="rect"><a:avLst/></a:prstGeom>
  </p:spPr>
  <p:txBody>
  <a:bodyPr/>
  <a:lstStyle/>
  <a:p><a:pPr><a:buChar char="•"/></a:pPr><a:r><a:rPr lang="en-US" sz="2200"/><a:t>Thank you</a:t></a:r></a:p>
</p:txBody>
</p:sp>
    </p:spTree>
  </p:cSld>
  <p:clrMapOvr><a:masterClrMapping/>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Cyberattack Log Analysis</dc:title>
  <dc:creator>Codex</dc:creator>
  <cp:lastModifiedBy>Codex</cp:lastModifiedBy>
  <dcterms:created xsi:type="dcterms:W3CDTF">2026-02-25T15:44:46.156683Z</dcterms:created>
  <dcterms:modified xsi:type="dcterms:W3CDTF">2026-02-25T15:44:46.156763Z</dcterms:modified>
</cp:coreProperties>
</file>